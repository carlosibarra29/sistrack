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Montserrat"/>
      <p:bold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Poppins Black"/>
      <p:bold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16F558-63CE-4231-8109-D977E3A7278B}">
  <a:tblStyle styleId="{2B16F558-63CE-4231-8109-D977E3A7278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-italic.fntdata"/><Relationship Id="rId10" Type="http://schemas.openxmlformats.org/officeDocument/2006/relationships/slide" Target="slides/slide4.xml"/><Relationship Id="rId32" Type="http://schemas.openxmlformats.org/officeDocument/2006/relationships/font" Target="fonts/Poppins-bold.fntdata"/><Relationship Id="rId13" Type="http://schemas.openxmlformats.org/officeDocument/2006/relationships/slide" Target="slides/slide7.xml"/><Relationship Id="rId35" Type="http://schemas.openxmlformats.org/officeDocument/2006/relationships/font" Target="fonts/PoppinsBlack-bold.fntdata"/><Relationship Id="rId12" Type="http://schemas.openxmlformats.org/officeDocument/2006/relationships/slide" Target="slides/slide6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9.xml"/><Relationship Id="rId37" Type="http://schemas.openxmlformats.org/officeDocument/2006/relationships/font" Target="fonts/OpenSans-regular.fntdata"/><Relationship Id="rId14" Type="http://schemas.openxmlformats.org/officeDocument/2006/relationships/slide" Target="slides/slide8.xml"/><Relationship Id="rId36" Type="http://schemas.openxmlformats.org/officeDocument/2006/relationships/font" Target="fonts/PoppinsBlack-boldItalic.fntdata"/><Relationship Id="rId17" Type="http://schemas.openxmlformats.org/officeDocument/2006/relationships/slide" Target="slides/slide11.xml"/><Relationship Id="rId39" Type="http://schemas.openxmlformats.org/officeDocument/2006/relationships/font" Target="fonts/OpenSans-italic.fntdata"/><Relationship Id="rId16" Type="http://schemas.openxmlformats.org/officeDocument/2006/relationships/slide" Target="slides/slide10.xml"/><Relationship Id="rId38" Type="http://schemas.openxmlformats.org/officeDocument/2006/relationships/font" Target="fonts/Open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cfa573ca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2cfa573ca4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2cfa573ca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2cfa573ca4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88f9a9ca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988f9a9ca9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88f9a9ca9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988f9a9ca9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7954b066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47954b066a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baced4a1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6baced4a1c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c3a1a59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bc3a1a592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c3a1a592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bc3a1a5923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23472a6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bc23472a66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c23472a6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bc23472a66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c23472a6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bc23472a66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23472a6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bc23472a66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2b3fbc5c6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32b3fbc5c6_1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2b3fbc5c6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32b3fbc5c6_1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2cfa573ca4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2cfa573ca4_0_2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2cfa573ca4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2cfa573ca4_0_2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cfa573ca4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2cfa573ca4_2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cfa573ca4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2cfa573ca4_0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efinf.com/clipviewer/9ad8c2f4aefdb9f70d8e14691d8471b1" TargetMode="External"/><Relationship Id="rId4" Type="http://schemas.openxmlformats.org/officeDocument/2006/relationships/hyperlink" Target="https://www.informabtl.com/mas-fuerza-menos-gasto-ofertas-fitness-que-te-impulsan-a-moverte/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hyperlink" Target="https://docs.google.com/spreadsheets/d/1rHHGw-ameKT2XNt5MTSWYElMu6n6563I1zfI3OHE6zM/edit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1" Type="http://schemas.openxmlformats.org/officeDocument/2006/relationships/hyperlink" Target="https://www.informabtl.com/mas-fuerza-menos-gasto-ofertas-fitness-que-te-impulsan-a-moverte/" TargetMode="External"/><Relationship Id="rId10" Type="http://schemas.openxmlformats.org/officeDocument/2006/relationships/hyperlink" Target="https://www.informabtl.com/mas-fuerza-menos-gasto-ofertas-fitness-que-te-impulsan-a-moverte/" TargetMode="External"/><Relationship Id="rId9" Type="http://schemas.openxmlformats.org/officeDocument/2006/relationships/hyperlink" Target="https://www.informabtl.com/mas-fuerza-menos-gasto-ofertas-fitness-que-te-impulsan-a-moverte/" TargetMode="External"/><Relationship Id="rId5" Type="http://schemas.openxmlformats.org/officeDocument/2006/relationships/hyperlink" Target="https://docs.google.com/spreadsheets/d/1rHHGw-ameKT2XNt5MTSWYElMu6n6563I1zfI3OHE6zM/edit?usp=sharing" TargetMode="External"/><Relationship Id="rId6" Type="http://schemas.openxmlformats.org/officeDocument/2006/relationships/image" Target="../media/image11.png"/><Relationship Id="rId7" Type="http://schemas.openxmlformats.org/officeDocument/2006/relationships/image" Target="../media/image15.png"/><Relationship Id="rId8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docs.google.com/spreadsheets/d/1rHHGw-ameKT2XNt5MTSWYElMu6n6563I1zfI3OHE6zM/edit?usp=sharing" TargetMode="External"/><Relationship Id="rId6" Type="http://schemas.openxmlformats.org/officeDocument/2006/relationships/hyperlink" Target="https://www.facebook.com/reel/1401737864947224" TargetMode="External"/><Relationship Id="rId7" Type="http://schemas.openxmlformats.org/officeDocument/2006/relationships/hyperlink" Target="https://www.youtube.com/watch?v=cGePifKY8KQ" TargetMode="External"/><Relationship Id="rId8" Type="http://schemas.openxmlformats.org/officeDocument/2006/relationships/hyperlink" Target="https://www.efinf.com/clipviewer/4402dd20d7d52f82ff74082747a37ec0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docs.google.com/spreadsheets/d/1rHHGw-ameKT2XNt5MTSWYElMu6n6563I1zfI3OHE6zM/edit?usp=sharing" TargetMode="External"/><Relationship Id="rId6" Type="http://schemas.openxmlformats.org/officeDocument/2006/relationships/hyperlink" Target="https://www.youtube.com/watch?v=cGePifKY8KQ" TargetMode="External"/><Relationship Id="rId7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0" Type="http://schemas.openxmlformats.org/officeDocument/2006/relationships/hyperlink" Target="https://drive.google.com/file/d/1AAX7GyofMAEeHPZo8SleU0_lfF2b0X3f/view" TargetMode="External"/><Relationship Id="rId9" Type="http://schemas.openxmlformats.org/officeDocument/2006/relationships/hyperlink" Target="https://drive.google.com/file/d/1AAX7GyofMAEeHPZo8SleU0_lfF2b0X3f/view" TargetMode="External"/><Relationship Id="rId5" Type="http://schemas.openxmlformats.org/officeDocument/2006/relationships/hyperlink" Target="https://docs.google.com/spreadsheets/d/1rHHGw-ameKT2XNt5MTSWYElMu6n6563I1zfI3OHE6zM/edit?usp=sharing" TargetMode="External"/><Relationship Id="rId6" Type="http://schemas.openxmlformats.org/officeDocument/2006/relationships/hyperlink" Target="https://www.efinf.com/clipviewer/0c5fe2c17e842a69a60e4cbcdd044718" TargetMode="External"/><Relationship Id="rId7" Type="http://schemas.openxmlformats.org/officeDocument/2006/relationships/hyperlink" Target="https://drive.google.com/file/d/1AAX7GyofMAEeHPZo8SleU0_lfF2b0X3f/view" TargetMode="External"/><Relationship Id="rId8" Type="http://schemas.openxmlformats.org/officeDocument/2006/relationships/hyperlink" Target="https://drive.google.com/file/d/1AAX7GyofMAEeHPZo8SleU0_lfF2b0X3f/view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docs.google.com/spreadsheets/d/1rHHGw-ameKT2XNt5MTSWYElMu6n6563I1zfI3OHE6zM/edit?usp=sharing" TargetMode="External"/><Relationship Id="rId6" Type="http://schemas.openxmlformats.org/officeDocument/2006/relationships/hyperlink" Target="https://drive.google.com/file/d/1AAX7GyofMAEeHPZo8SleU0_lfF2b0X3f/view" TargetMode="External"/><Relationship Id="rId7" Type="http://schemas.openxmlformats.org/officeDocument/2006/relationships/hyperlink" Target="http://drive.google.com/file/d/1AAX7GyofMAEeHPZo8SleU0_lfF2b0X3f/view" TargetMode="External"/><Relationship Id="rId8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metroworldnews.com/estilo-vida/2026/01/23/nuevo-leon-ahora-cuenta-con-un-nuevo-referente-del-fitness-premium/" TargetMode="External"/><Relationship Id="rId10" Type="http://schemas.openxmlformats.org/officeDocument/2006/relationships/hyperlink" Target="https://www.publimetro.com.mx/estilo-vida/2026/01/23/nuevo-leon-ahora-cuenta-con-un-nuevo-referente-del-fitness-premium/" TargetMode="External"/><Relationship Id="rId13" Type="http://schemas.openxmlformats.org/officeDocument/2006/relationships/hyperlink" Target="https://www.efinf.com/clipviewer/files/2d48e09852f41b57b8ec73494780054b.pdf" TargetMode="External"/><Relationship Id="rId12" Type="http://schemas.openxmlformats.org/officeDocument/2006/relationships/hyperlink" Target="https://pilotzinoticias.com/2026/01/sports-world-inaugura-en-san-pedro-su-club-insignia-y-refuerza-su-estrategia-de-crecimiento/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hyperlink" Target="https://www.reforma.com/de-regios-2026-01-16/op306696" TargetMode="External"/><Relationship Id="rId14" Type="http://schemas.openxmlformats.org/officeDocument/2006/relationships/hyperlink" Target="https://www.milenio.com/opinion/editoriales/in-versiones-nacional/inversiones_650" TargetMode="External"/><Relationship Id="rId5" Type="http://schemas.openxmlformats.org/officeDocument/2006/relationships/hyperlink" Target="https://docs.google.com/spreadsheets/d/1rHHGw-ameKT2XNt5MTSWYElMu6n6563I1zfI3OHE6zM/edit?usp=sharing" TargetMode="External"/><Relationship Id="rId6" Type="http://schemas.openxmlformats.org/officeDocument/2006/relationships/hyperlink" Target="https://www.mural.com.mx/de-regios-2026-01-16/op306696" TargetMode="External"/><Relationship Id="rId7" Type="http://schemas.openxmlformats.org/officeDocument/2006/relationships/hyperlink" Target="https://www.efinf.com/clipviewer/files/5b791d640fab67b6ab8214152e91af8b.pdf" TargetMode="External"/><Relationship Id="rId8" Type="http://schemas.openxmlformats.org/officeDocument/2006/relationships/hyperlink" Target="https://www.elnorte.com/de-regios-2026-01-16/op306696" TargetMode="External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2.png"/><Relationship Id="rId13" Type="http://schemas.openxmlformats.org/officeDocument/2006/relationships/hyperlink" Target="https://www.publimetro.com.mx/estilo-vida/2026/01/23/nuevo-leon-ahora-cuenta-con-un-nuevo-referente-del-fitness-premium/" TargetMode="External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17.png"/><Relationship Id="rId14" Type="http://schemas.openxmlformats.org/officeDocument/2006/relationships/image" Target="../media/image21.png"/><Relationship Id="rId5" Type="http://schemas.openxmlformats.org/officeDocument/2006/relationships/hyperlink" Target="https://docs.google.com/spreadsheets/d/1rHHGw-ameKT2XNt5MTSWYElMu6n6563I1zfI3OHE6zM/edit?usp=sharing" TargetMode="External"/><Relationship Id="rId6" Type="http://schemas.openxmlformats.org/officeDocument/2006/relationships/hyperlink" Target="https://www.milenio.com/opinion/editoriales/in-versiones-nacional/inversiones_650" TargetMode="External"/><Relationship Id="rId7" Type="http://schemas.openxmlformats.org/officeDocument/2006/relationships/hyperlink" Target="https://abcnoticias.mx/local/2026/1/20/sports-world-san-pedro-liderando-la-revolucion-fitness-en-nuevo-leon-271321.html" TargetMode="External"/><Relationship Id="rId8" Type="http://schemas.openxmlformats.org/officeDocument/2006/relationships/hyperlink" Target="https://www.efinf.com/clipviewer/1434e27ef93a868988fc0adae080b951?file" TargetMode="External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instagram.com/fearisael/" TargetMode="External"/><Relationship Id="rId22" Type="http://schemas.openxmlformats.org/officeDocument/2006/relationships/hyperlink" Target="https://drive.google.com/drive/folders/18WnbLeL1Kfkk7AL0ZZCN_lmDNg2RQo_g?usp=drive_link" TargetMode="External"/><Relationship Id="rId21" Type="http://schemas.openxmlformats.org/officeDocument/2006/relationships/hyperlink" Target="https://drive.google.com/drive/folders/18WnbLeL1Kfkk7AL0ZZCN_lmDNg2RQo_g?usp=drive_link" TargetMode="External"/><Relationship Id="rId24" Type="http://schemas.openxmlformats.org/officeDocument/2006/relationships/hyperlink" Target="https://drive.google.com/drive/folders/1NsaPIegyV_3B-KgrSHpXybLtploxgh1z?usp=sharing" TargetMode="External"/><Relationship Id="rId23" Type="http://schemas.openxmlformats.org/officeDocument/2006/relationships/hyperlink" Target="https://www.instagram.com/ilianovich/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hyperlink" Target="https://drive.google.com/drive/folders/18ZlIaaAF3qz44KSCoic2J5YXuV_wWJD3?usp=drive_link" TargetMode="External"/><Relationship Id="rId26" Type="http://schemas.openxmlformats.org/officeDocument/2006/relationships/hyperlink" Target="https://www.instagram.com/maarpiink/" TargetMode="External"/><Relationship Id="rId25" Type="http://schemas.openxmlformats.org/officeDocument/2006/relationships/hyperlink" Target="https://drive.google.com/drive/folders/1NsaPIegyV_3B-KgrSHpXybLtploxgh1z?usp=sharing" TargetMode="External"/><Relationship Id="rId28" Type="http://schemas.openxmlformats.org/officeDocument/2006/relationships/hyperlink" Target="https://drive.google.com/drive/folders/1PxtYC7-j0V3MW99WUb5BBzA15psrhQeK?usp=drive_link" TargetMode="External"/><Relationship Id="rId27" Type="http://schemas.openxmlformats.org/officeDocument/2006/relationships/hyperlink" Target="https://drive.google.com/drive/folders/1PxtYC7-j0V3MW99WUb5BBzA15psrhQeK?usp=drive_link" TargetMode="External"/><Relationship Id="rId5" Type="http://schemas.openxmlformats.org/officeDocument/2006/relationships/hyperlink" Target="https://docs.google.com/spreadsheets/d/1rHHGw-ameKT2XNt5MTSWYElMu6n6563I1zfI3OHE6zM/edit?usp=sharing" TargetMode="External"/><Relationship Id="rId6" Type="http://schemas.openxmlformats.org/officeDocument/2006/relationships/hyperlink" Target="https://www.instagram.com/hannaatri" TargetMode="External"/><Relationship Id="rId29" Type="http://schemas.openxmlformats.org/officeDocument/2006/relationships/hyperlink" Target="https://www.instagram.com/lianamusic/" TargetMode="External"/><Relationship Id="rId7" Type="http://schemas.openxmlformats.org/officeDocument/2006/relationships/hyperlink" Target="https://drive.google.com/drive/folders/1_FqWpy9r6VbTrlCijjS3MfkZxILJC3EE?usp=drive_link" TargetMode="External"/><Relationship Id="rId8" Type="http://schemas.openxmlformats.org/officeDocument/2006/relationships/hyperlink" Target="https://drive.google.com/drive/folders/1_FqWpy9r6VbTrlCijjS3MfkZxILJC3EE?usp=drive_link" TargetMode="External"/><Relationship Id="rId31" Type="http://schemas.openxmlformats.org/officeDocument/2006/relationships/hyperlink" Target="https://drive.google.com/drive/folders/134P3Msh4mf5giXeBJeBVWoE5TZxHIkLH?usp=drive_link" TargetMode="External"/><Relationship Id="rId30" Type="http://schemas.openxmlformats.org/officeDocument/2006/relationships/hyperlink" Target="https://drive.google.com/drive/folders/134P3Msh4mf5giXeBJeBVWoE5TZxHIkLH?usp=drive_link" TargetMode="External"/><Relationship Id="rId11" Type="http://schemas.openxmlformats.org/officeDocument/2006/relationships/hyperlink" Target="https://www.instagram.com/vgnutricion/" TargetMode="External"/><Relationship Id="rId10" Type="http://schemas.openxmlformats.org/officeDocument/2006/relationships/hyperlink" Target="https://drive.google.com/drive/folders/18ZlIaaAF3qz44KSCoic2J5YXuV_wWJD3?usp=drive_link" TargetMode="External"/><Relationship Id="rId13" Type="http://schemas.openxmlformats.org/officeDocument/2006/relationships/hyperlink" Target="https://drive.google.com/drive/folders/10o9oH-GadXFE7q3D5xfFb6XOwekNTyW2?usp=drive_link" TargetMode="External"/><Relationship Id="rId12" Type="http://schemas.openxmlformats.org/officeDocument/2006/relationships/hyperlink" Target="https://drive.google.com/drive/folders/10o9oH-GadXFE7q3D5xfFb6XOwekNTyW2?usp=drive_link" TargetMode="External"/><Relationship Id="rId15" Type="http://schemas.openxmlformats.org/officeDocument/2006/relationships/hyperlink" Target="https://drive.google.com/drive/folders/14qhBdoPeCs6duk6Maz5fy4i1c7Y2DgVQ?usp=drive_link" TargetMode="External"/><Relationship Id="rId14" Type="http://schemas.openxmlformats.org/officeDocument/2006/relationships/hyperlink" Target="https://drive.google.com/drive/folders/14qhBdoPeCs6duk6Maz5fy4i1c7Y2DgVQ?usp=drive_link" TargetMode="External"/><Relationship Id="rId17" Type="http://schemas.openxmlformats.org/officeDocument/2006/relationships/hyperlink" Target="https://drive.google.com/drive/folders/1QyChsIlcS4MX7i2AvQXB7PWONo0ob7ad?usp=drive_link" TargetMode="External"/><Relationship Id="rId16" Type="http://schemas.openxmlformats.org/officeDocument/2006/relationships/hyperlink" Target="https://drive.google.com/drive/folders/1QyChsIlcS4MX7i2AvQXB7PWONo0ob7ad?usp=drive_link" TargetMode="External"/><Relationship Id="rId19" Type="http://schemas.openxmlformats.org/officeDocument/2006/relationships/hyperlink" Target="https://drive.google.com/drive/folders/1lvwzQ5G8QJM96XPi-_-dL4ZBri5HhoRV?usp=drive_link" TargetMode="External"/><Relationship Id="rId18" Type="http://schemas.openxmlformats.org/officeDocument/2006/relationships/hyperlink" Target="https://drive.google.com/drive/folders/1lvwzQ5G8QJM96XPi-_-dL4ZBri5HhoRV?usp=drive_link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26.png"/><Relationship Id="rId5" Type="http://schemas.openxmlformats.org/officeDocument/2006/relationships/hyperlink" Target="https://docs.google.com/spreadsheets/d/1rHHGw-ameKT2XNt5MTSWYElMu6n6563I1zfI3OHE6zM/edit?usp=sharing" TargetMode="External"/><Relationship Id="rId6" Type="http://schemas.openxmlformats.org/officeDocument/2006/relationships/hyperlink" Target="https://drive.google.com/drive/folders/1QyChsIlcS4MX7i2AvQXB7PWONo0ob7ad?usp=drive_link" TargetMode="External"/><Relationship Id="rId7" Type="http://schemas.openxmlformats.org/officeDocument/2006/relationships/hyperlink" Target="https://drive.google.com/drive/folders/10o9oH-GadXFE7q3D5xfFb6XOwekNTyW2?usp=drive_link" TargetMode="External"/><Relationship Id="rId8" Type="http://schemas.openxmlformats.org/officeDocument/2006/relationships/hyperlink" Target="https://drive.google.com/drive/folders/1_FqWpy9r6VbTrlCijjS3MfkZxILJC3EE?usp=drive_link" TargetMode="External"/><Relationship Id="rId11" Type="http://schemas.openxmlformats.org/officeDocument/2006/relationships/image" Target="../media/image28.png"/><Relationship Id="rId10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hyperlink" Target="https://drive.google.com/drive/folders/1R-JX9H1WkvBE6_zRac5ZVjkbrg_Yi4Tq?usp=drive_link" TargetMode="External"/><Relationship Id="rId5" Type="http://schemas.openxmlformats.org/officeDocument/2006/relationships/hyperlink" Target="https://docs.google.com/spreadsheets/d/1rHHGw-ameKT2XNt5MTSWYElMu6n6563I1zfI3OHE6zM/edit?usp=sharing" TargetMode="External"/><Relationship Id="rId6" Type="http://schemas.openxmlformats.org/officeDocument/2006/relationships/hyperlink" Target="https://drive.google.com/drive/folders/1PxtYC7-j0V3MW99WUb5BBzA15psrhQeK?usp=drive_link" TargetMode="External"/><Relationship Id="rId7" Type="http://schemas.openxmlformats.org/officeDocument/2006/relationships/hyperlink" Target="https://drive.google.com/drive/folders/1PxtYC7-j0V3MW99WUb5BBzA15psrhQeK?usp=drive_link" TargetMode="External"/><Relationship Id="rId8" Type="http://schemas.openxmlformats.org/officeDocument/2006/relationships/hyperlink" Target="https://drive.google.com/drive/folders/1R-JX9H1WkvBE6_zRac5ZVjkbrg_Yi4Tq?usp=drive_link" TargetMode="External"/><Relationship Id="rId11" Type="http://schemas.openxmlformats.org/officeDocument/2006/relationships/hyperlink" Target="https://drive.google.com/drive/folders/18WnbLeL1Kfkk7AL0ZZCN_lmDNg2RQo_g?usp=drive_link" TargetMode="External"/><Relationship Id="rId10" Type="http://schemas.openxmlformats.org/officeDocument/2006/relationships/hyperlink" Target="https://drive.google.com/drive/folders/18WnbLeL1Kfkk7AL0ZZCN_lmDNg2RQo_g?usp=drive_link" TargetMode="External"/><Relationship Id="rId13" Type="http://schemas.openxmlformats.org/officeDocument/2006/relationships/hyperlink" Target="https://drive.google.com/drive/folders/1LPeMjJKK3_Ti7RfulPGgQNh-9uLIxjAm?usp=drive_link" TargetMode="External"/><Relationship Id="rId12" Type="http://schemas.openxmlformats.org/officeDocument/2006/relationships/hyperlink" Target="https://drive.google.com/drive/folders/1LPeMjJKK3_Ti7RfulPGgQNh-9uLIxjAm?usp=drive_link" TargetMode="External"/><Relationship Id="rId15" Type="http://schemas.openxmlformats.org/officeDocument/2006/relationships/hyperlink" Target="https://drive.google.com/drive/folders/1A4Mjmvry31ZYFjseEihud_uVrxkSrt7M?usp=drive_link" TargetMode="External"/><Relationship Id="rId14" Type="http://schemas.openxmlformats.org/officeDocument/2006/relationships/hyperlink" Target="https://drive.google.com/drive/folders/1A4Mjmvry31ZYFjseEihud_uVrxkSrt7M?usp=drive_link" TargetMode="External"/><Relationship Id="rId17" Type="http://schemas.openxmlformats.org/officeDocument/2006/relationships/hyperlink" Target="https://drive.google.com/drive/folders/1NsaPIegyV_3B-KgrSHpXybLtploxgh1z?usp=sharing" TargetMode="External"/><Relationship Id="rId16" Type="http://schemas.openxmlformats.org/officeDocument/2006/relationships/hyperlink" Target="https://drive.google.com/drive/folders/1NsaPIegyV_3B-KgrSHpXybLtploxgh1z?usp=sharing" TargetMode="External"/><Relationship Id="rId19" Type="http://schemas.openxmlformats.org/officeDocument/2006/relationships/hyperlink" Target="https://drive.google.com/drive/folders/134P3Msh4mf5giXeBJeBVWoE5TZxHIkLH?usp=drive_link" TargetMode="External"/><Relationship Id="rId18" Type="http://schemas.openxmlformats.org/officeDocument/2006/relationships/hyperlink" Target="https://drive.google.com/drive/folders/134P3Msh4mf5giXeBJeBVWoE5TZxHIkLH?usp=drive_link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22.png"/><Relationship Id="rId5" Type="http://schemas.openxmlformats.org/officeDocument/2006/relationships/hyperlink" Target="https://drive.google.com/drive/folders/1NsaPIegyV_3B-KgrSHpXybLtploxgh1z?usp=sharing" TargetMode="External"/><Relationship Id="rId6" Type="http://schemas.openxmlformats.org/officeDocument/2006/relationships/hyperlink" Target="https://drive.google.com/drive/folders/1R-JX9H1WkvBE6_zRac5ZVjkbrg_Yi4Tq?usp=drive_link" TargetMode="External"/><Relationship Id="rId7" Type="http://schemas.openxmlformats.org/officeDocument/2006/relationships/hyperlink" Target="https://drive.google.com/drive/folders/18WnbLeL1Kfkk7AL0ZZCN_lmDNg2RQo_g?usp=drive_link" TargetMode="External"/><Relationship Id="rId8" Type="http://schemas.openxmlformats.org/officeDocument/2006/relationships/hyperlink" Target="https://docs.google.com/spreadsheets/d/1rHHGw-ameKT2XNt5MTSWYElMu6n6563I1zfI3OHE6zM/edit?usp=sharing" TargetMode="External"/><Relationship Id="rId11" Type="http://schemas.openxmlformats.org/officeDocument/2006/relationships/image" Target="../media/image25.png"/><Relationship Id="rId10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docs.google.com/spreadsheets/d/1rHHGw-ameKT2XNt5MTSWYElMu6n6563I1zfI3OHE6zM/edit?usp=sharing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5231E"/>
            </a:gs>
            <a:gs pos="100000">
              <a:srgbClr val="7D0A06"/>
            </a:gs>
          </a:gsLst>
          <a:lin ang="0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558999" y="3407725"/>
            <a:ext cx="40260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rgbClr val="030303"/>
                </a:solidFill>
                <a:latin typeface="Montserrat"/>
                <a:ea typeface="Montserrat"/>
                <a:cs typeface="Montserrat"/>
                <a:sym typeface="Montserrat"/>
              </a:rPr>
              <a:t>REPORTE MENSUAL</a:t>
            </a:r>
            <a:r>
              <a:rPr b="1" i="0" lang="es" sz="2700" u="none" cap="none" strike="noStrike">
                <a:solidFill>
                  <a:srgbClr val="03030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ENERO </a:t>
            </a:r>
            <a:r>
              <a:rPr b="1" i="0" lang="e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</a:t>
            </a:r>
            <a:r>
              <a:rPr b="1" lang="e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70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850" y="367600"/>
            <a:ext cx="5068300" cy="285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31" y="4706767"/>
            <a:ext cx="1437950" cy="335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6300" y="4788475"/>
            <a:ext cx="1072600" cy="2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10082" r="12655" t="0"/>
          <a:stretch/>
        </p:blipFill>
        <p:spPr>
          <a:xfrm>
            <a:off x="5950418" y="0"/>
            <a:ext cx="31935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186800" y="4727998"/>
            <a:ext cx="1008466" cy="414316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p14"/>
          <p:cNvSpPr txBox="1"/>
          <p:nvPr/>
        </p:nvSpPr>
        <p:spPr>
          <a:xfrm>
            <a:off x="186808" y="86361"/>
            <a:ext cx="210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latin typeface="Montserrat"/>
                <a:ea typeface="Montserrat"/>
                <a:cs typeface="Montserrat"/>
                <a:sym typeface="Montserrat"/>
              </a:rPr>
              <a:t>CONTEXTO</a:t>
            </a:r>
            <a:endParaRPr sz="700"/>
          </a:p>
        </p:txBody>
      </p:sp>
      <p:sp>
        <p:nvSpPr>
          <p:cNvPr id="65" name="Google Shape;65;p14"/>
          <p:cNvSpPr txBox="1"/>
          <p:nvPr/>
        </p:nvSpPr>
        <p:spPr>
          <a:xfrm>
            <a:off x="319825" y="695300"/>
            <a:ext cx="5395200" cy="38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Durante el mes de enero, Sports World concentró su comunicación en la apertura de su club número 49, </a:t>
            </a:r>
            <a:r>
              <a:rPr b="1" lang="es" sz="1100">
                <a:solidFill>
                  <a:schemeClr val="dk1"/>
                </a:solidFill>
              </a:rPr>
              <a:t>San Pedro Garza García</a:t>
            </a:r>
            <a:r>
              <a:rPr lang="es" sz="1100">
                <a:solidFill>
                  <a:schemeClr val="dk1"/>
                </a:solidFill>
              </a:rPr>
              <a:t>, la unidad más grande y premium de la compañía, inaugurada el pasado 19 de enero.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Para este lanzamiento Cuadrante en colaboración con la marca, desarrolló y ejecutó una estrategia enfocada en maximizar la visibilidad del proyecto antes, durante y después del evento, a través de la gestión de entrevistas, elaboración y distribución de comunicados, generación de espacios editoriales, así como la coordinación y acompañamiento a medios e influencers.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De manera complementaria, durante el mes se generó un comunicado titulado </a:t>
            </a:r>
            <a:r>
              <a:rPr lang="es" sz="1100">
                <a:solidFill>
                  <a:schemeClr val="dk1"/>
                </a:solidFill>
              </a:rPr>
              <a:t>“Ofertas Fitness”</a:t>
            </a:r>
            <a:r>
              <a:rPr lang="es" sz="1100">
                <a:solidFill>
                  <a:schemeClr val="dk1"/>
                </a:solidFill>
              </a:rPr>
              <a:t>y se dio seguimiento al monitoreo de redes sociales de los influencers bajo contrato, asegurando la correcta alineación de mensajes y una presencia constante de la marca.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Adicionalmente, se realizó atención a crisis y monitoreo permanente de redes sociales en casos específicos, incluyendo el caso de la usuaria del Triángulo de las Ánimas y el caso Antara, abarcando la gestión de postura institucional, seguimiento digital y atención estratégica de crisis para la protección de la reputación de la marca.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77700" y="111300"/>
            <a:ext cx="280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Actividades realizadas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5621213" y="3809463"/>
            <a:ext cx="1876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186800" y="417763"/>
            <a:ext cx="8407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continuación desglosamos las actividades realizadas durante el mes de enero: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Gestión, elaboración </a:t>
            </a: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 comunicado Ofertas Fitness.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 gener</a:t>
            </a: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aron 2 </a:t>
            </a: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pub</a:t>
            </a: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licaciones con un impacto potencial de </a:t>
            </a: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170,000.</a:t>
            </a:r>
            <a:endParaRPr/>
          </a:p>
        </p:txBody>
      </p:sp>
      <p:graphicFrame>
        <p:nvGraphicFramePr>
          <p:cNvPr id="73" name="Google Shape;73;p15"/>
          <p:cNvGraphicFramePr/>
          <p:nvPr/>
        </p:nvGraphicFramePr>
        <p:xfrm>
          <a:off x="1238250" y="194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{2B16F558-63CE-4231-8109-D977E3A7278B}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00025">
                <a:tc grid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NOTAS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MEDIO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PLATAFORMA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PUBLICACIÓN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TIER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IMPACTOS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Informa BTL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Print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chemeClr val="hlink"/>
                          </a:solidFill>
                          <a:hlinkClick r:id="rId3"/>
                        </a:rPr>
                        <a:t>https://www.efinf.com/clipviewer/9ad8c2f4aefdb9f70d8e14691d8471b1</a:t>
                      </a:r>
                      <a:endParaRPr sz="1000" u="sng">
                        <a:solidFill>
                          <a:schemeClr val="hlink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60,000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Informa BTL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Web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chemeClr val="hlink"/>
                          </a:solidFill>
                          <a:hlinkClick r:id="rId4"/>
                        </a:rPr>
                        <a:t>https://www.informabtl.com/mas-fuerza-menos-gasto-ofertas-fitness-que-te-impulsan-a-moverte/</a:t>
                      </a:r>
                      <a:endParaRPr sz="1000" u="sng">
                        <a:solidFill>
                          <a:schemeClr val="hlink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110,000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TOTAL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170,000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4" name="Google Shape;74;p15"/>
          <p:cNvSpPr/>
          <p:nvPr/>
        </p:nvSpPr>
        <p:spPr>
          <a:xfrm>
            <a:off x="7643855" y="47307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" name="Google Shape;75;p15"/>
          <p:cNvSpPr/>
          <p:nvPr/>
        </p:nvSpPr>
        <p:spPr>
          <a:xfrm>
            <a:off x="186802" y="44069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6" name="Google Shape;76;p15"/>
          <p:cNvSpPr txBox="1"/>
          <p:nvPr/>
        </p:nvSpPr>
        <p:spPr>
          <a:xfrm>
            <a:off x="1353250" y="4668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*Para conocer a detalle la cobertura </a:t>
            </a:r>
            <a:r>
              <a:rPr lang="es" sz="900">
                <a:latin typeface="Lato"/>
                <a:ea typeface="Lato"/>
                <a:cs typeface="Lato"/>
                <a:sym typeface="Lato"/>
              </a:rPr>
              <a:t>clic </a:t>
            </a:r>
            <a:r>
              <a:rPr lang="es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7"/>
              </a:rPr>
              <a:t>aquí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7643855" y="47307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2" name="Google Shape;82;p16"/>
          <p:cNvSpPr/>
          <p:nvPr/>
        </p:nvSpPr>
        <p:spPr>
          <a:xfrm>
            <a:off x="186802" y="44069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16"/>
          <p:cNvSpPr txBox="1"/>
          <p:nvPr/>
        </p:nvSpPr>
        <p:spPr>
          <a:xfrm>
            <a:off x="77700" y="111300"/>
            <a:ext cx="280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Evidencias destacadas </a:t>
            </a:r>
            <a:endParaRPr b="1"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1353250" y="4668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*Para conocer a detalle la cobertura </a:t>
            </a:r>
            <a:r>
              <a:rPr lang="es" sz="900">
                <a:latin typeface="Lato"/>
                <a:ea typeface="Lato"/>
                <a:cs typeface="Lato"/>
                <a:sym typeface="Lato"/>
              </a:rPr>
              <a:t>clic </a:t>
            </a:r>
            <a:r>
              <a:rPr lang="es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aquí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6">
            <a:alphaModFix/>
          </a:blip>
          <a:srcRect b="0" l="0" r="0" t="10063"/>
          <a:stretch/>
        </p:blipFill>
        <p:spPr>
          <a:xfrm>
            <a:off x="1242800" y="938525"/>
            <a:ext cx="2395076" cy="269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68200" y="636411"/>
            <a:ext cx="1958450" cy="536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 rotWithShape="1">
          <a:blip r:embed="rId8">
            <a:alphaModFix/>
          </a:blip>
          <a:srcRect b="5267" l="0" r="0" t="0"/>
          <a:stretch/>
        </p:blipFill>
        <p:spPr>
          <a:xfrm>
            <a:off x="4968200" y="1173175"/>
            <a:ext cx="1958450" cy="24650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5050140" y="3864250"/>
            <a:ext cx="1876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Informa BTL</a:t>
            </a:r>
            <a:endParaRPr i="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420965" y="3778450"/>
            <a:ext cx="1876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Informa BTL</a:t>
            </a:r>
            <a:r>
              <a:rPr b="1" lang="es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 Print</a:t>
            </a:r>
            <a:endParaRPr b="1" i="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7643855" y="47307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7"/>
          <p:cNvSpPr/>
          <p:nvPr/>
        </p:nvSpPr>
        <p:spPr>
          <a:xfrm>
            <a:off x="186802" y="44069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7"/>
          <p:cNvSpPr txBox="1"/>
          <p:nvPr/>
        </p:nvSpPr>
        <p:spPr>
          <a:xfrm>
            <a:off x="144750" y="466600"/>
            <a:ext cx="8854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Gestión entrevista a </a:t>
            </a: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Gabriela Vieira do Prado</a:t>
            </a: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donde se abordó el compromiso con los usuarios, responsabilidad social, la remodelación de sucursales y nueva apertura en San Pedro García Garza.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Derivado de la entrevista se generaron </a:t>
            </a: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 p</a:t>
            </a: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ublicaciones </a:t>
            </a: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 un impacto potencial de 587,000.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102672" y="132400"/>
            <a:ext cx="3407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s" sz="1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Actividades realizadas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1353250" y="4668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*Para conocer a detalle la cobertura </a:t>
            </a:r>
            <a:r>
              <a:rPr lang="es" sz="900">
                <a:latin typeface="Lato"/>
                <a:ea typeface="Lato"/>
                <a:cs typeface="Lato"/>
                <a:sym typeface="Lato"/>
              </a:rPr>
              <a:t>clic </a:t>
            </a:r>
            <a:r>
              <a:rPr lang="es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aquí</a:t>
            </a:r>
            <a:endParaRPr/>
          </a:p>
        </p:txBody>
      </p:sp>
      <p:graphicFrame>
        <p:nvGraphicFramePr>
          <p:cNvPr id="99" name="Google Shape;99;p17"/>
          <p:cNvGraphicFramePr/>
          <p:nvPr/>
        </p:nvGraphicFramePr>
        <p:xfrm>
          <a:off x="1009650" y="179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{2B16F558-63CE-4231-8109-D977E3A7278B}</a:tableStyleId>
              </a:tblPr>
              <a:tblGrid>
                <a:gridCol w="1409700"/>
                <a:gridCol w="952500"/>
                <a:gridCol w="952500"/>
                <a:gridCol w="952500"/>
                <a:gridCol w="952500"/>
                <a:gridCol w="952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MEDIO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PLATAFORMA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PUBLICACIÓN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TIER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IMPACTOS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Mundo Ejecutivo FB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Redes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chemeClr val="hlink"/>
                          </a:solidFill>
                          <a:hlinkClick r:id="rId6"/>
                        </a:rPr>
                        <a:t>https://www.facebook.com/reel/1401737864947224</a:t>
                      </a:r>
                      <a:endParaRPr sz="1000" u="sng">
                        <a:solidFill>
                          <a:schemeClr val="hlink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222222"/>
                          </a:solidFill>
                        </a:rPr>
                        <a:t>417,000</a:t>
                      </a:r>
                      <a:endParaRPr sz="1000">
                        <a:solidFill>
                          <a:srgbClr val="22222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Mundo Ejecutivo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Web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chemeClr val="hlink"/>
                          </a:solidFill>
                          <a:hlinkClick r:id="rId7"/>
                        </a:rPr>
                        <a:t>https://www.youtube.com/watch?v=cGePifKY8KQ</a:t>
                      </a:r>
                      <a:endParaRPr sz="1000" u="sng">
                        <a:solidFill>
                          <a:schemeClr val="hlink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222222"/>
                          </a:solidFill>
                        </a:rPr>
                        <a:t>119,000</a:t>
                      </a:r>
                      <a:endParaRPr sz="1000">
                        <a:solidFill>
                          <a:srgbClr val="22222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Mundo Ejecutivo Print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Print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chemeClr val="hlink"/>
                          </a:solidFill>
                          <a:hlinkClick r:id="rId8"/>
                        </a:rPr>
                        <a:t>https://www.efinf.com/clipviewer/4402dd20d7d52f82ff74082747a37ec0</a:t>
                      </a:r>
                      <a:endParaRPr sz="1000" u="sng">
                        <a:solidFill>
                          <a:schemeClr val="hlink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51,000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TOTAL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587</a:t>
                      </a: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,000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7643855" y="47307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8"/>
          <p:cNvSpPr/>
          <p:nvPr/>
        </p:nvSpPr>
        <p:spPr>
          <a:xfrm>
            <a:off x="186802" y="44069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8"/>
          <p:cNvSpPr txBox="1"/>
          <p:nvPr/>
        </p:nvSpPr>
        <p:spPr>
          <a:xfrm>
            <a:off x="77700" y="111300"/>
            <a:ext cx="280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Evidencia destacada</a:t>
            </a:r>
            <a:r>
              <a:rPr b="1" lang="e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1353250" y="4668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*Para conocer a detalle la cobertura </a:t>
            </a:r>
            <a:r>
              <a:rPr lang="es" sz="900">
                <a:latin typeface="Lato"/>
                <a:ea typeface="Lato"/>
                <a:cs typeface="Lato"/>
                <a:sym typeface="Lato"/>
              </a:rPr>
              <a:t>clic </a:t>
            </a:r>
            <a:r>
              <a:rPr lang="es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aquí</a:t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3633740" y="4106225"/>
            <a:ext cx="1876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Mundo Ejecutivo Express</a:t>
            </a:r>
            <a:endParaRPr i="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48788" y="594675"/>
            <a:ext cx="4246424" cy="30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7643855" y="47307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9"/>
          <p:cNvSpPr/>
          <p:nvPr/>
        </p:nvSpPr>
        <p:spPr>
          <a:xfrm>
            <a:off x="186802" y="44069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19"/>
          <p:cNvSpPr txBox="1"/>
          <p:nvPr/>
        </p:nvSpPr>
        <p:spPr>
          <a:xfrm>
            <a:off x="102672" y="132400"/>
            <a:ext cx="3407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s" sz="1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Actividades realizadas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1353250" y="4668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*Para conocer a detalle la cobertura </a:t>
            </a:r>
            <a:r>
              <a:rPr lang="es" sz="900">
                <a:latin typeface="Lato"/>
                <a:ea typeface="Lato"/>
                <a:cs typeface="Lato"/>
                <a:sym typeface="Lato"/>
              </a:rPr>
              <a:t>clic </a:t>
            </a:r>
            <a:r>
              <a:rPr lang="es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aquí</a:t>
            </a:r>
            <a:endParaRPr/>
          </a:p>
        </p:txBody>
      </p:sp>
      <p:graphicFrame>
        <p:nvGraphicFramePr>
          <p:cNvPr id="118" name="Google Shape;118;p19"/>
          <p:cNvGraphicFramePr/>
          <p:nvPr/>
        </p:nvGraphicFramePr>
        <p:xfrm>
          <a:off x="1547450" y="161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{2B16F558-63CE-4231-8109-D977E3A7278B}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00025">
                <a:tc grid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NOTAS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MEDIO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PLATAFORMA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PUBLICACIÓN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TIER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IMPACTOS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latin typeface="Lato"/>
                          <a:ea typeface="Lato"/>
                          <a:cs typeface="Lato"/>
                          <a:sym typeface="Lato"/>
                        </a:rPr>
                        <a:t>MVS</a:t>
                      </a:r>
                      <a:endParaRPr sz="1000" u="sng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Radio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https://www.efinf.com/clipviewer/0c5fe2c17e842a69a60e4cbcdd044718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173,772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latin typeface="Lato"/>
                          <a:ea typeface="Lato"/>
                          <a:cs typeface="Lato"/>
                          <a:sym typeface="Lato"/>
                        </a:rPr>
                        <a:t>MVS</a:t>
                      </a:r>
                      <a:endParaRPr sz="1000" u="sng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Youtube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ScreenRecording_01-13-2026 19-45-24_1.MP4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8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574,000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latin typeface="Lato"/>
                          <a:ea typeface="Lato"/>
                          <a:cs typeface="Lato"/>
                          <a:sym typeface="Lato"/>
                        </a:rPr>
                        <a:t>MVS</a:t>
                      </a:r>
                      <a:endParaRPr sz="1000" u="sng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Web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ScreenRecording_01-13-2026 19-45-24_1.MP4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10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200,000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947,772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19"/>
          <p:cNvSpPr txBox="1"/>
          <p:nvPr/>
        </p:nvSpPr>
        <p:spPr>
          <a:xfrm>
            <a:off x="201050" y="496200"/>
            <a:ext cx="840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s" sz="13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Gestión</a:t>
            </a:r>
            <a:r>
              <a:rPr lang="es" sz="13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300">
                <a:latin typeface="Lato"/>
                <a:ea typeface="Lato"/>
                <a:cs typeface="Lato"/>
                <a:sym typeface="Lato"/>
              </a:rPr>
              <a:t>de entrevista pre apertura con MVS Negocios.</a:t>
            </a:r>
            <a:endParaRPr sz="13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s" sz="13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 gener</a:t>
            </a:r>
            <a:r>
              <a:rPr lang="es" sz="13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aron </a:t>
            </a:r>
            <a:r>
              <a:rPr b="1" lang="es" sz="1300">
                <a:latin typeface="Lato"/>
                <a:ea typeface="Lato"/>
                <a:cs typeface="Lato"/>
                <a:sym typeface="Lato"/>
              </a:rPr>
              <a:t>3 publicaciones </a:t>
            </a:r>
            <a:r>
              <a:rPr b="1" lang="es" sz="13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 un impacto potencial de </a:t>
            </a:r>
            <a:r>
              <a:rPr b="1" lang="es" sz="1300">
                <a:latin typeface="Lato"/>
                <a:ea typeface="Lato"/>
                <a:cs typeface="Lato"/>
                <a:sym typeface="Lato"/>
              </a:rPr>
              <a:t>947,772</a:t>
            </a:r>
            <a:r>
              <a:rPr b="1" lang="es" sz="13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>
            <a:off x="7643855" y="47307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20"/>
          <p:cNvSpPr/>
          <p:nvPr/>
        </p:nvSpPr>
        <p:spPr>
          <a:xfrm>
            <a:off x="186802" y="44069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20"/>
          <p:cNvSpPr txBox="1"/>
          <p:nvPr/>
        </p:nvSpPr>
        <p:spPr>
          <a:xfrm>
            <a:off x="77700" y="111300"/>
            <a:ext cx="280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Evidencia destacada</a:t>
            </a:r>
            <a:endParaRPr b="1"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1353250" y="4668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*Para conocer a detalle la cobertura </a:t>
            </a:r>
            <a:r>
              <a:rPr lang="es" sz="900">
                <a:latin typeface="Lato"/>
                <a:ea typeface="Lato"/>
                <a:cs typeface="Lato"/>
                <a:sym typeface="Lato"/>
              </a:rPr>
              <a:t>clic </a:t>
            </a:r>
            <a:r>
              <a:rPr lang="es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aquí</a:t>
            </a:r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3633740" y="4106225"/>
            <a:ext cx="1876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u="sng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MVS</a:t>
            </a:r>
            <a:endParaRPr i="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" name="Google Shape;129;p20" title="ScreenRecording_01-13-2026 19-45-24_1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99426" y="628713"/>
            <a:ext cx="4196350" cy="334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>
            <a:off x="7643855" y="47307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21"/>
          <p:cNvSpPr/>
          <p:nvPr/>
        </p:nvSpPr>
        <p:spPr>
          <a:xfrm>
            <a:off x="186802" y="44069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21"/>
          <p:cNvSpPr txBox="1"/>
          <p:nvPr/>
        </p:nvSpPr>
        <p:spPr>
          <a:xfrm>
            <a:off x="144750" y="338375"/>
            <a:ext cx="885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Gestión entrevista de comunicad</a:t>
            </a: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 Apertura San Pedro.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Derivado de la entrevista se generaron </a:t>
            </a:r>
            <a:r>
              <a:rPr b="1" lang="e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24 publicaciones con un impacto potencial de 10,320,449.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102672" y="132400"/>
            <a:ext cx="3407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s" sz="1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Actividades realizadas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1353250" y="4668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*Para conocer a detalle la cobertura </a:t>
            </a:r>
            <a:r>
              <a:rPr lang="es" sz="900">
                <a:latin typeface="Lato"/>
                <a:ea typeface="Lato"/>
                <a:cs typeface="Lato"/>
                <a:sym typeface="Lato"/>
              </a:rPr>
              <a:t>clic </a:t>
            </a:r>
            <a:r>
              <a:rPr lang="es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aquí</a:t>
            </a:r>
            <a:endParaRPr/>
          </a:p>
        </p:txBody>
      </p:sp>
      <p:graphicFrame>
        <p:nvGraphicFramePr>
          <p:cNvPr id="139" name="Google Shape;139;p21"/>
          <p:cNvGraphicFramePr/>
          <p:nvPr/>
        </p:nvGraphicFramePr>
        <p:xfrm>
          <a:off x="1163525" y="130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{2B16F558-63CE-4231-8109-D977E3A7278B}</a:tableStyleId>
              </a:tblPr>
              <a:tblGrid>
                <a:gridCol w="907900"/>
                <a:gridCol w="756575"/>
                <a:gridCol w="1513175"/>
                <a:gridCol w="1513175"/>
                <a:gridCol w="756575"/>
                <a:gridCol w="756575"/>
              </a:tblGrid>
              <a:tr h="216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MEDIO</a:t>
                      </a:r>
                      <a:endParaRPr b="1" sz="8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PLATAFORMA</a:t>
                      </a:r>
                      <a:endParaRPr b="1" sz="8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PUBLICACIÓN</a:t>
                      </a:r>
                      <a:endParaRPr b="1" sz="8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TIER</a:t>
                      </a:r>
                      <a:endParaRPr b="1" sz="8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IMPACTOS</a:t>
                      </a:r>
                      <a:endParaRPr b="1" sz="8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1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Mural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Web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sng">
                          <a:solidFill>
                            <a:srgbClr val="0097A7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https://www.mural.com.mx/de-regios-2026-01-16/op306696</a:t>
                      </a:r>
                      <a:endParaRPr sz="800" u="sng">
                        <a:solidFill>
                          <a:srgbClr val="0097A7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75,000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El Norte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Print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sng">
                          <a:solidFill>
                            <a:srgbClr val="0097A7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https://www.efinf.com/clipviewer/files/5b791d640fab67b6ab8214152e91af8b.pdf</a:t>
                      </a:r>
                      <a:endParaRPr sz="800" u="sng">
                        <a:solidFill>
                          <a:srgbClr val="0097A7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45,000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El Norte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Web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sng">
                          <a:solidFill>
                            <a:srgbClr val="0097A7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https://www.elnorte.com/de-regios-2026-01-16/op306696</a:t>
                      </a:r>
                      <a:endParaRPr sz="800" u="sng">
                        <a:solidFill>
                          <a:srgbClr val="0097A7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150,000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21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Reforma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Web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sng">
                          <a:solidFill>
                            <a:srgbClr val="0097A7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https://www.reforma.com/de-regios-2026-01-16/op306696</a:t>
                      </a:r>
                      <a:endParaRPr sz="800" u="sng">
                        <a:solidFill>
                          <a:srgbClr val="0097A7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rgbClr val="222222"/>
                          </a:solidFill>
                        </a:rPr>
                        <a:t>545,600</a:t>
                      </a:r>
                      <a:endParaRPr sz="800">
                        <a:solidFill>
                          <a:srgbClr val="22222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40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Publimetro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Web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sng">
                          <a:solidFill>
                            <a:srgbClr val="0097A7"/>
                          </a:solid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https://www.publimetro.com.mx/estilo-vida/2026/01/23/nuevo-leon-ahora-cuenta-con-un-nuevo-referente-del-fitness-premium/</a:t>
                      </a:r>
                      <a:endParaRPr sz="800" u="sng">
                        <a:solidFill>
                          <a:srgbClr val="0097A7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1,000,000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40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Metro World News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Web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sng">
                          <a:solidFill>
                            <a:srgbClr val="0097A7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https://www.metroworldnews.com/estilo-vida/2026/01/23/nuevo-leon-ahora-cuenta-con-un-nuevo-referente-del-fitness-premium/</a:t>
                      </a:r>
                      <a:endParaRPr sz="800" u="sng">
                        <a:solidFill>
                          <a:srgbClr val="0097A7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658,200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40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Pilotzi Noticias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Web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sng">
                          <a:solidFill>
                            <a:srgbClr val="0097A7"/>
                          </a:solidFill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https://pilotzinoticias.com/2026/01/sports-world-inaugura-en-san-pedro-su-club-insignia-y-refuerza-su-estrategia-de-crecimiento/</a:t>
                      </a:r>
                      <a:endParaRPr sz="800" u="sng">
                        <a:solidFill>
                          <a:srgbClr val="0097A7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40,000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26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Milenio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Print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sng">
                          <a:solidFill>
                            <a:srgbClr val="0097A7"/>
                          </a:solidFill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https://www.efinf.com/clipviewer/files/2d48e09852f41b57b8ec73494780054b.pdf</a:t>
                      </a:r>
                      <a:endParaRPr sz="800" u="sng">
                        <a:solidFill>
                          <a:srgbClr val="0097A7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300,000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Milenio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Web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sng">
                          <a:solidFill>
                            <a:srgbClr val="0097A7"/>
                          </a:solidFill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https://www.milenio.com/opinion/editoriales/in-versiones-nacional/inversiones_650</a:t>
                      </a:r>
                      <a:endParaRPr sz="800" u="sng">
                        <a:solidFill>
                          <a:srgbClr val="0097A7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/>
                        <a:t>5,000,000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/>
          <p:nvPr/>
        </p:nvSpPr>
        <p:spPr>
          <a:xfrm>
            <a:off x="7643855" y="47307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2"/>
          <p:cNvSpPr/>
          <p:nvPr/>
        </p:nvSpPr>
        <p:spPr>
          <a:xfrm>
            <a:off x="186802" y="44069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22"/>
          <p:cNvSpPr txBox="1"/>
          <p:nvPr/>
        </p:nvSpPr>
        <p:spPr>
          <a:xfrm>
            <a:off x="77700" y="111300"/>
            <a:ext cx="280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Evidencias destacadas 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1353250" y="4668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*Para conocer a detalle la cobertura </a:t>
            </a:r>
            <a:r>
              <a:rPr lang="es" sz="900">
                <a:latin typeface="Lato"/>
                <a:ea typeface="Lato"/>
                <a:cs typeface="Lato"/>
                <a:sym typeface="Lato"/>
              </a:rPr>
              <a:t>clic </a:t>
            </a:r>
            <a:r>
              <a:rPr lang="es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aquí</a:t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5456994" y="3522175"/>
            <a:ext cx="9621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500" u="sng">
                <a:solidFill>
                  <a:srgbClr val="0097A7"/>
                </a:solidFill>
                <a:latin typeface="Lato"/>
                <a:ea typeface="Lato"/>
                <a:cs typeface="Lato"/>
                <a:sym typeface="La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Milenio</a:t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3192448" y="3522175"/>
            <a:ext cx="15021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500" u="sng">
                <a:solidFill>
                  <a:srgbClr val="0097A7"/>
                </a:solidFill>
                <a:latin typeface="Lato"/>
                <a:ea typeface="Lato"/>
                <a:cs typeface="Lato"/>
                <a:sym typeface="La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ABC Noticias</a:t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1014700" y="3522175"/>
            <a:ext cx="10044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500" u="sng">
                <a:solidFill>
                  <a:srgbClr val="0097A7"/>
                </a:solidFill>
                <a:latin typeface="Lato"/>
                <a:ea typeface="Lato"/>
                <a:cs typeface="Lato"/>
                <a:sym typeface="Lat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 Norte</a:t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59109" y="1063125"/>
            <a:ext cx="1604877" cy="228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09513" y="1025149"/>
            <a:ext cx="1690200" cy="89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 rotWithShape="1">
          <a:blip r:embed="rId11">
            <a:alphaModFix/>
          </a:blip>
          <a:srcRect b="51136" l="0" r="9885" t="0"/>
          <a:stretch/>
        </p:blipFill>
        <p:spPr>
          <a:xfrm>
            <a:off x="4909513" y="1476300"/>
            <a:ext cx="1690200" cy="1878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 title="IMG_6331 2.PNG"/>
          <p:cNvPicPr preferRelativeResize="0"/>
          <p:nvPr/>
        </p:nvPicPr>
        <p:blipFill rotWithShape="1">
          <a:blip r:embed="rId12">
            <a:alphaModFix/>
          </a:blip>
          <a:srcRect b="13761" l="0" r="0" t="12010"/>
          <a:stretch/>
        </p:blipFill>
        <p:spPr>
          <a:xfrm>
            <a:off x="7083950" y="1045775"/>
            <a:ext cx="1443608" cy="232970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/>
        </p:nvSpPr>
        <p:spPr>
          <a:xfrm>
            <a:off x="7158200" y="3522175"/>
            <a:ext cx="12951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500" u="sng">
                <a:solidFill>
                  <a:srgbClr val="0097A7"/>
                </a:solidFill>
                <a:latin typeface="Lato"/>
                <a:ea typeface="Lato"/>
                <a:cs typeface="Lato"/>
                <a:sym typeface="Lato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Publimetro</a:t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14">
            <a:alphaModFix/>
          </a:blip>
          <a:srcRect b="18707" l="27079" r="27061" t="11853"/>
          <a:stretch/>
        </p:blipFill>
        <p:spPr>
          <a:xfrm>
            <a:off x="928363" y="945575"/>
            <a:ext cx="1177069" cy="252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/>
          <p:nvPr/>
        </p:nvSpPr>
        <p:spPr>
          <a:xfrm>
            <a:off x="7643855" y="46545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23"/>
          <p:cNvSpPr/>
          <p:nvPr/>
        </p:nvSpPr>
        <p:spPr>
          <a:xfrm>
            <a:off x="186802" y="44069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23"/>
          <p:cNvSpPr txBox="1"/>
          <p:nvPr/>
        </p:nvSpPr>
        <p:spPr>
          <a:xfrm>
            <a:off x="102672" y="30475"/>
            <a:ext cx="3407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s" sz="1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Actividades realizadas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186800" y="364675"/>
            <a:ext cx="60492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Seguimiento de publicaciones influencers </a:t>
            </a: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San Pedro.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353250" y="4668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*Para conocer a detalle la cobertura </a:t>
            </a:r>
            <a:r>
              <a:rPr lang="es" sz="900">
                <a:latin typeface="Lato"/>
                <a:ea typeface="Lato"/>
                <a:cs typeface="Lato"/>
                <a:sym typeface="Lato"/>
              </a:rPr>
              <a:t>clic </a:t>
            </a:r>
            <a:r>
              <a:rPr lang="es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aquí</a:t>
            </a:r>
            <a:endParaRPr/>
          </a:p>
        </p:txBody>
      </p:sp>
      <p:graphicFrame>
        <p:nvGraphicFramePr>
          <p:cNvPr id="166" name="Google Shape;166;p23"/>
          <p:cNvGraphicFramePr/>
          <p:nvPr/>
        </p:nvGraphicFramePr>
        <p:xfrm>
          <a:off x="1766325" y="111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{2B16F558-63CE-4231-8109-D977E3A7278B}</a:tableStyleId>
              </a:tblPr>
              <a:tblGrid>
                <a:gridCol w="1362075"/>
                <a:gridCol w="1200150"/>
                <a:gridCol w="952500"/>
                <a:gridCol w="952500"/>
                <a:gridCol w="952500"/>
              </a:tblGrid>
              <a:tr h="200025">
                <a:tc gridSpan="5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INFLUENCERS POR CONTRATO SAN PEDRO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hMerge="1"/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Influencer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Testigo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Followers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# Publicación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rgbClr val="1155CC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Hanna</a:t>
                      </a:r>
                      <a:endParaRPr sz="1000" u="sng">
                        <a:solidFill>
                          <a:srgbClr val="1155CC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Hanna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8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167,000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668,000.00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rgbClr val="1155C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Maria Emilia</a:t>
                      </a:r>
                      <a:endParaRPr sz="1000" u="sng">
                        <a:solidFill>
                          <a:srgbClr val="1155CC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Maria Emilia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10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14,600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29,200.00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rgbClr val="1155CC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Valeria gonzalez</a:t>
                      </a:r>
                      <a:endParaRPr sz="1000" u="sng">
                        <a:solidFill>
                          <a:srgbClr val="1155CC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Valeria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13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327,000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1,308,000.00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rgbClr val="1155C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Valeria Serna</a:t>
                      </a:r>
                      <a:endParaRPr sz="1000" u="sng">
                        <a:solidFill>
                          <a:srgbClr val="1155CC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Valeria Serna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15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131,000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524,000.00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rgbClr val="1155C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Flor Véliz</a:t>
                      </a:r>
                      <a:endParaRPr sz="1000" u="sng">
                        <a:solidFill>
                          <a:srgbClr val="1155CC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1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Flor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17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604,000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1,812,000.00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rgbClr val="1155C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Daniel</a:t>
                      </a:r>
                      <a:endParaRPr sz="1000" u="sng">
                        <a:solidFill>
                          <a:srgbClr val="1155CC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1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Daniel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19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43,700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43,700.00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rgbClr val="1155CC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2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Fear</a:t>
                      </a:r>
                      <a:endParaRPr sz="1000" u="sng">
                        <a:solidFill>
                          <a:srgbClr val="1155CC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2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Enero 2026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22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93,100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93,100.00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rgbClr val="1155CC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2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Nano</a:t>
                      </a:r>
                      <a:endParaRPr sz="1000" u="sng">
                        <a:solidFill>
                          <a:srgbClr val="1155CC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2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Enero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25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192,000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192,000.00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rgbClr val="1155CC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2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Mariana</a:t>
                      </a:r>
                      <a:endParaRPr sz="1000" u="sng">
                        <a:solidFill>
                          <a:srgbClr val="1155CC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2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Enero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28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42,700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2,700.00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sng">
                          <a:solidFill>
                            <a:srgbClr val="1155CC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2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Liana</a:t>
                      </a:r>
                      <a:endParaRPr sz="1000" u="sng">
                        <a:solidFill>
                          <a:srgbClr val="1155CC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3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Enero 2026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31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47,300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47,300.00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4,760,000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/>
          <p:nvPr/>
        </p:nvSpPr>
        <p:spPr>
          <a:xfrm>
            <a:off x="7643855" y="46545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24"/>
          <p:cNvSpPr/>
          <p:nvPr/>
        </p:nvSpPr>
        <p:spPr>
          <a:xfrm>
            <a:off x="186802" y="44069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24"/>
          <p:cNvSpPr txBox="1"/>
          <p:nvPr/>
        </p:nvSpPr>
        <p:spPr>
          <a:xfrm>
            <a:off x="91950" y="92425"/>
            <a:ext cx="290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Evidencias destacadas </a:t>
            </a:r>
            <a:endParaRPr b="1"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24"/>
          <p:cNvSpPr txBox="1"/>
          <p:nvPr/>
        </p:nvSpPr>
        <p:spPr>
          <a:xfrm>
            <a:off x="1353250" y="4668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*Para conocer a detalle la cobertura </a:t>
            </a:r>
            <a:r>
              <a:rPr lang="es" sz="900">
                <a:latin typeface="Lato"/>
                <a:ea typeface="Lato"/>
                <a:cs typeface="Lato"/>
                <a:sym typeface="Lato"/>
              </a:rPr>
              <a:t>clic </a:t>
            </a:r>
            <a:r>
              <a:rPr lang="es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aquí</a:t>
            </a:r>
            <a:endParaRPr/>
          </a:p>
        </p:txBody>
      </p:sp>
      <p:sp>
        <p:nvSpPr>
          <p:cNvPr id="175" name="Google Shape;175;p24"/>
          <p:cNvSpPr txBox="1"/>
          <p:nvPr/>
        </p:nvSpPr>
        <p:spPr>
          <a:xfrm>
            <a:off x="6545688" y="3732638"/>
            <a:ext cx="1876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500" u="sng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Flor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3793640" y="3883800"/>
            <a:ext cx="1876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500" u="sng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Valeria</a:t>
            </a:r>
            <a:endParaRPr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833903" y="3883800"/>
            <a:ext cx="1876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500" u="sng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Hanna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97775" y="803896"/>
            <a:ext cx="1712625" cy="3079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/>
          <p:cNvPicPr preferRelativeResize="0"/>
          <p:nvPr/>
        </p:nvPicPr>
        <p:blipFill rotWithShape="1">
          <a:blip r:embed="rId10">
            <a:alphaModFix/>
          </a:blip>
          <a:srcRect b="0" l="0" r="6410" t="0"/>
          <a:stretch/>
        </p:blipFill>
        <p:spPr>
          <a:xfrm>
            <a:off x="3858650" y="753812"/>
            <a:ext cx="1563800" cy="312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70700" y="603828"/>
            <a:ext cx="1876500" cy="3279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/>
          <p:nvPr/>
        </p:nvSpPr>
        <p:spPr>
          <a:xfrm>
            <a:off x="7643855" y="46545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25"/>
          <p:cNvSpPr/>
          <p:nvPr/>
        </p:nvSpPr>
        <p:spPr>
          <a:xfrm>
            <a:off x="186802" y="44069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25"/>
          <p:cNvSpPr txBox="1"/>
          <p:nvPr/>
        </p:nvSpPr>
        <p:spPr>
          <a:xfrm>
            <a:off x="102672" y="30475"/>
            <a:ext cx="3407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s" sz="1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Actividades realizadas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186800" y="364675"/>
            <a:ext cx="60492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Seguimiento de publicaciones influencers por c</a:t>
            </a: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ontrato</a:t>
            </a: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1353250" y="4668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*Para conocer a detalle la cobertura </a:t>
            </a:r>
            <a:r>
              <a:rPr lang="es" sz="900">
                <a:latin typeface="Lato"/>
                <a:ea typeface="Lato"/>
                <a:cs typeface="Lato"/>
                <a:sym typeface="Lato"/>
              </a:rPr>
              <a:t>clic </a:t>
            </a:r>
            <a:r>
              <a:rPr lang="es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aquí</a:t>
            </a:r>
            <a:endParaRPr/>
          </a:p>
        </p:txBody>
      </p:sp>
      <p:graphicFrame>
        <p:nvGraphicFramePr>
          <p:cNvPr id="190" name="Google Shape;190;p25"/>
          <p:cNvGraphicFramePr/>
          <p:nvPr/>
        </p:nvGraphicFramePr>
        <p:xfrm>
          <a:off x="1242800" y="116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{2B16F558-63CE-4231-8109-D977E3A7278B}</a:tableStyleId>
              </a:tblPr>
              <a:tblGrid>
                <a:gridCol w="1605575"/>
                <a:gridCol w="1414700"/>
                <a:gridCol w="1122775"/>
                <a:gridCol w="1122775"/>
                <a:gridCol w="1122775"/>
              </a:tblGrid>
              <a:tr h="247575">
                <a:tc gridSpan="5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INFLUENCERS POR CONTRATO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hMerge="1"/>
                <a:tc hMerge="1"/>
                <a:tc hMerge="1"/>
                <a:tc hMerge="1"/>
              </a:tr>
              <a:tr h="247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Influencer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Testigo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Followers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# Publicación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70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Mariana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Enero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7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43,300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129,900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Vanna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Enero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9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62,200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311,000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Fearisael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Enero 2026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11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91,900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275,700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Pawis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Enero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13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133,000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798,000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Majo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Enero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15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366,000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366,000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Nano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1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Enero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17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193,000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7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1,351,000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Liana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sng">
                          <a:solidFill>
                            <a:schemeClr val="accent5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1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Enero 2026</a:t>
                      </a:r>
                      <a:endParaRPr sz="1000" u="sng">
                        <a:solidFill>
                          <a:schemeClr val="accent5"/>
                        </a:solidFill>
                        <a:latin typeface="Lato"/>
                        <a:ea typeface="Lato"/>
                        <a:cs typeface="Lato"/>
                        <a:sym typeface="Lato"/>
                        <a:hlinkClick r:id="rId19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47,400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Lato"/>
                          <a:ea typeface="Lato"/>
                          <a:cs typeface="Lato"/>
                          <a:sym typeface="Lato"/>
                        </a:rPr>
                        <a:t>47,400</a:t>
                      </a:r>
                      <a:endParaRPr sz="1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26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3,279,000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/>
          <p:nvPr/>
        </p:nvSpPr>
        <p:spPr>
          <a:xfrm>
            <a:off x="7643855" y="46545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26"/>
          <p:cNvSpPr/>
          <p:nvPr/>
        </p:nvSpPr>
        <p:spPr>
          <a:xfrm>
            <a:off x="186802" y="44069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26"/>
          <p:cNvSpPr txBox="1"/>
          <p:nvPr/>
        </p:nvSpPr>
        <p:spPr>
          <a:xfrm>
            <a:off x="91950" y="92425"/>
            <a:ext cx="290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Evidencias destacadas </a:t>
            </a:r>
            <a:endParaRPr b="1"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352275" y="4036174"/>
            <a:ext cx="18774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5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Nano</a:t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6727575" y="3942974"/>
            <a:ext cx="18774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5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6"/>
              </a:rPr>
              <a:t>Vanna</a:t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3620925" y="4032899"/>
            <a:ext cx="18774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5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7"/>
              </a:rPr>
              <a:t>Fear</a:t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1353250" y="4668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*Para conocer a detalle la cobertura </a:t>
            </a:r>
            <a:r>
              <a:rPr lang="es" sz="900">
                <a:latin typeface="Lato"/>
                <a:ea typeface="Lato"/>
                <a:cs typeface="Lato"/>
                <a:sym typeface="Lato"/>
              </a:rPr>
              <a:t>clic </a:t>
            </a:r>
            <a:r>
              <a:rPr lang="es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8"/>
              </a:rPr>
              <a:t>aquí</a:t>
            </a:r>
            <a:endParaRPr/>
          </a:p>
        </p:txBody>
      </p:sp>
      <p:pic>
        <p:nvPicPr>
          <p:cNvPr id="202" name="Google Shape;202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71575" y="541913"/>
            <a:ext cx="1976095" cy="3506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27570" y="586876"/>
            <a:ext cx="1876693" cy="3416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6725" y="578417"/>
            <a:ext cx="1877400" cy="3470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/>
          <p:nvPr/>
        </p:nvSpPr>
        <p:spPr>
          <a:xfrm>
            <a:off x="7643855" y="47307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27"/>
          <p:cNvSpPr/>
          <p:nvPr/>
        </p:nvSpPr>
        <p:spPr>
          <a:xfrm>
            <a:off x="186802" y="44069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27"/>
          <p:cNvSpPr txBox="1"/>
          <p:nvPr/>
        </p:nvSpPr>
        <p:spPr>
          <a:xfrm>
            <a:off x="114000" y="484975"/>
            <a:ext cx="891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Derivado de las actividades realizadas, se </a:t>
            </a:r>
            <a:r>
              <a:rPr lang="es" sz="1500">
                <a:latin typeface="Lato"/>
                <a:ea typeface="Lato"/>
                <a:cs typeface="Lato"/>
                <a:sym typeface="Lato"/>
              </a:rPr>
              <a:t>generaron</a:t>
            </a:r>
            <a:r>
              <a:rPr lang="es" sz="15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" sz="1500">
                <a:latin typeface="Lato"/>
                <a:ea typeface="Lato"/>
                <a:cs typeface="Lato"/>
                <a:sym typeface="Lato"/>
              </a:rPr>
              <a:t>71</a:t>
            </a:r>
            <a:r>
              <a:rPr b="1" lang="es" sz="15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publicacione</a:t>
            </a:r>
            <a:r>
              <a:rPr b="1" lang="e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 </a:t>
            </a:r>
            <a:r>
              <a:rPr lang="e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logrando un </a:t>
            </a:r>
            <a:r>
              <a:rPr b="1" lang="e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impacto potencial total de </a:t>
            </a:r>
            <a:r>
              <a:rPr b="1"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18,722,521 </a:t>
            </a:r>
            <a:r>
              <a:rPr b="1" lang="e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y un PR Value de </a:t>
            </a:r>
            <a:r>
              <a:rPr b="1"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$943,615.06.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178872" y="106675"/>
            <a:ext cx="3407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s" sz="1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Resultados </a:t>
            </a:r>
            <a:r>
              <a:rPr b="1" lang="es" sz="1700">
                <a:latin typeface="Lato"/>
                <a:ea typeface="Lato"/>
                <a:cs typeface="Lato"/>
                <a:sym typeface="Lato"/>
              </a:rPr>
              <a:t>t</a:t>
            </a:r>
            <a:r>
              <a:rPr b="1" lang="es" sz="1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otales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1353250" y="4668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*Para conocer a detalle la cobertura </a:t>
            </a:r>
            <a:r>
              <a:rPr lang="es" sz="900">
                <a:latin typeface="Lato"/>
                <a:ea typeface="Lato"/>
                <a:cs typeface="Lato"/>
                <a:sym typeface="Lato"/>
              </a:rPr>
              <a:t>clic </a:t>
            </a:r>
            <a:r>
              <a:rPr lang="es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aquí</a:t>
            </a:r>
            <a:endParaRPr/>
          </a:p>
        </p:txBody>
      </p:sp>
      <p:graphicFrame>
        <p:nvGraphicFramePr>
          <p:cNvPr id="214" name="Google Shape;214;p27"/>
          <p:cNvGraphicFramePr/>
          <p:nvPr/>
        </p:nvGraphicFramePr>
        <p:xfrm>
          <a:off x="1778000" y="129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{2B16F558-63CE-4231-8109-D977E3A7278B}</a:tableStyleId>
              </a:tblPr>
              <a:tblGrid>
                <a:gridCol w="1878625"/>
                <a:gridCol w="1196575"/>
                <a:gridCol w="1196575"/>
                <a:gridCol w="1316225"/>
              </a:tblGrid>
              <a:tr h="47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N° de publicaciones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Impactos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PR VALUE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59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Ofertas Fitness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170,000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$8,568.00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85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Entrevista Gabriela Vieira Do Prado Mundo Ejecutivo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587,000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$29,584.80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Entrevista MVS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947,772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$47,767.71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Apertura San Pedro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10,320,449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$520,150.63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Influencers San Pedro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3,418,300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$172,282.32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Influencers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3,279,000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$165,261.60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Total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71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18,722,521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$943,615.06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/>
          <p:nvPr/>
        </p:nvSpPr>
        <p:spPr>
          <a:xfrm>
            <a:off x="7643855" y="4730728"/>
            <a:ext cx="1263570" cy="261138"/>
          </a:xfrm>
          <a:custGeom>
            <a:rect b="b" l="l" r="r" t="t"/>
            <a:pathLst>
              <a:path extrusionOk="0" h="522276" w="2527140">
                <a:moveTo>
                  <a:pt x="0" y="0"/>
                </a:moveTo>
                <a:lnTo>
                  <a:pt x="2527140" y="0"/>
                </a:lnTo>
                <a:lnTo>
                  <a:pt x="2527140" y="522276"/>
                </a:lnTo>
                <a:lnTo>
                  <a:pt x="0" y="52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28"/>
          <p:cNvSpPr/>
          <p:nvPr/>
        </p:nvSpPr>
        <p:spPr>
          <a:xfrm>
            <a:off x="7934452" y="130135"/>
            <a:ext cx="1055985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28"/>
          <p:cNvSpPr txBox="1"/>
          <p:nvPr/>
        </p:nvSpPr>
        <p:spPr>
          <a:xfrm>
            <a:off x="291047" y="239450"/>
            <a:ext cx="3407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KPI´S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62450" y="4745000"/>
            <a:ext cx="62388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*Los impactos est</a:t>
            </a:r>
            <a:r>
              <a:rPr b="1" lang="es" sz="1000">
                <a:solidFill>
                  <a:schemeClr val="dk1"/>
                </a:solidFill>
              </a:rPr>
              <a:t>án integrados conforme al contrato</a:t>
            </a:r>
            <a:r>
              <a:rPr b="1" lang="es" sz="1000">
                <a:solidFill>
                  <a:schemeClr val="dk1"/>
                </a:solidFill>
              </a:rPr>
              <a:t>.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223" name="Google Shape;223;p28"/>
          <p:cNvSpPr/>
          <p:nvPr/>
        </p:nvSpPr>
        <p:spPr>
          <a:xfrm>
            <a:off x="5080825" y="558400"/>
            <a:ext cx="2657100" cy="381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24" name="Google Shape;224;p28"/>
          <p:cNvSpPr/>
          <p:nvPr/>
        </p:nvSpPr>
        <p:spPr>
          <a:xfrm>
            <a:off x="5000889" y="1703987"/>
            <a:ext cx="2910900" cy="1758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2800">
                <a:solidFill>
                  <a:srgbClr val="1E1E1E"/>
                </a:solidFill>
                <a:latin typeface="Poppins Black"/>
                <a:ea typeface="Poppins Black"/>
                <a:cs typeface="Poppins Black"/>
                <a:sym typeface="Poppins Black"/>
              </a:rPr>
              <a:t>+18.7 </a:t>
            </a:r>
            <a:r>
              <a:rPr lang="es" sz="2800">
                <a:solidFill>
                  <a:srgbClr val="1E1E1E"/>
                </a:solidFill>
                <a:latin typeface="Poppins Black"/>
                <a:ea typeface="Poppins Black"/>
                <a:cs typeface="Poppins Black"/>
                <a:sym typeface="Poppins Black"/>
              </a:rPr>
              <a:t>M</a:t>
            </a:r>
            <a:endParaRPr sz="2800">
              <a:solidFill>
                <a:srgbClr val="1E1E1E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2800">
                <a:solidFill>
                  <a:srgbClr val="1E1E1E"/>
                </a:solidFill>
                <a:latin typeface="Poppins Black"/>
                <a:ea typeface="Poppins Black"/>
                <a:cs typeface="Poppins Black"/>
                <a:sym typeface="Poppins Black"/>
              </a:rPr>
              <a:t>impactos</a:t>
            </a:r>
            <a:endParaRPr sz="2800">
              <a:solidFill>
                <a:srgbClr val="1E1E1E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2800">
                <a:solidFill>
                  <a:srgbClr val="1E1E1E"/>
                </a:solidFill>
                <a:latin typeface="Poppins Black"/>
                <a:ea typeface="Poppins Black"/>
                <a:cs typeface="Poppins Black"/>
                <a:sym typeface="Poppins Black"/>
              </a:rPr>
              <a:t>    71</a:t>
            </a:r>
            <a:endParaRPr sz="2800">
              <a:solidFill>
                <a:srgbClr val="1E1E1E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2800">
                <a:solidFill>
                  <a:srgbClr val="1E1E1E"/>
                </a:solidFill>
                <a:latin typeface="Poppins Black"/>
                <a:ea typeface="Poppins Black"/>
                <a:cs typeface="Poppins Black"/>
                <a:sym typeface="Poppins Black"/>
              </a:rPr>
              <a:t>publicaciones</a:t>
            </a:r>
            <a:endParaRPr sz="1900"/>
          </a:p>
        </p:txBody>
      </p:sp>
      <p:sp>
        <p:nvSpPr>
          <p:cNvPr id="225" name="Google Shape;225;p28"/>
          <p:cNvSpPr txBox="1"/>
          <p:nvPr/>
        </p:nvSpPr>
        <p:spPr>
          <a:xfrm>
            <a:off x="5305434" y="761993"/>
            <a:ext cx="23019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Alcanzados</a:t>
            </a:r>
            <a:endParaRPr b="1"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1219675" y="558400"/>
            <a:ext cx="2657100" cy="381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27" name="Google Shape;227;p28"/>
          <p:cNvSpPr/>
          <p:nvPr/>
        </p:nvSpPr>
        <p:spPr>
          <a:xfrm>
            <a:off x="1077114" y="1703987"/>
            <a:ext cx="2910900" cy="1758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2800">
                <a:solidFill>
                  <a:srgbClr val="1E1E1E"/>
                </a:solidFill>
                <a:latin typeface="Poppins Black"/>
                <a:ea typeface="Poppins Black"/>
                <a:cs typeface="Poppins Black"/>
                <a:sym typeface="Poppins Black"/>
              </a:rPr>
              <a:t>4 M</a:t>
            </a:r>
            <a:endParaRPr sz="2800">
              <a:solidFill>
                <a:srgbClr val="1E1E1E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2800">
                <a:solidFill>
                  <a:srgbClr val="1E1E1E"/>
                </a:solidFill>
                <a:latin typeface="Poppins Black"/>
                <a:ea typeface="Poppins Black"/>
                <a:cs typeface="Poppins Black"/>
                <a:sym typeface="Poppins Black"/>
              </a:rPr>
              <a:t>impactos</a:t>
            </a:r>
            <a:endParaRPr sz="2800">
              <a:solidFill>
                <a:srgbClr val="1E1E1E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2800">
                <a:solidFill>
                  <a:srgbClr val="1E1E1E"/>
                </a:solidFill>
                <a:latin typeface="Poppins Black"/>
                <a:ea typeface="Poppins Black"/>
                <a:cs typeface="Poppins Black"/>
                <a:sym typeface="Poppins Black"/>
              </a:rPr>
              <a:t>    24</a:t>
            </a:r>
            <a:endParaRPr sz="2800">
              <a:solidFill>
                <a:srgbClr val="1E1E1E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2800">
                <a:solidFill>
                  <a:srgbClr val="1E1E1E"/>
                </a:solidFill>
                <a:latin typeface="Poppins Black"/>
                <a:ea typeface="Poppins Black"/>
                <a:cs typeface="Poppins Black"/>
                <a:sym typeface="Poppins Black"/>
              </a:rPr>
              <a:t>publicaciones</a:t>
            </a:r>
            <a:endParaRPr sz="1900"/>
          </a:p>
        </p:txBody>
      </p:sp>
      <p:sp>
        <p:nvSpPr>
          <p:cNvPr id="228" name="Google Shape;228;p28"/>
          <p:cNvSpPr txBox="1"/>
          <p:nvPr/>
        </p:nvSpPr>
        <p:spPr>
          <a:xfrm>
            <a:off x="1381659" y="838193"/>
            <a:ext cx="23019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Inicial</a:t>
            </a:r>
            <a:endParaRPr b="1"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3975975" y="2178425"/>
            <a:ext cx="9645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VS</a:t>
            </a:r>
            <a:endParaRPr b="1" sz="2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7731" y="0"/>
            <a:ext cx="342626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9"/>
          <p:cNvSpPr/>
          <p:nvPr/>
        </p:nvSpPr>
        <p:spPr>
          <a:xfrm>
            <a:off x="74102" y="4427435"/>
            <a:ext cx="1055986" cy="623032"/>
          </a:xfrm>
          <a:custGeom>
            <a:rect b="b" l="l" r="r" t="t"/>
            <a:pathLst>
              <a:path extrusionOk="0" h="1246063" w="2111971">
                <a:moveTo>
                  <a:pt x="0" y="0"/>
                </a:moveTo>
                <a:lnTo>
                  <a:pt x="2111972" y="0"/>
                </a:lnTo>
                <a:lnTo>
                  <a:pt x="2111972" y="1246063"/>
                </a:lnTo>
                <a:lnTo>
                  <a:pt x="0" y="124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29"/>
          <p:cNvSpPr txBox="1"/>
          <p:nvPr/>
        </p:nvSpPr>
        <p:spPr>
          <a:xfrm>
            <a:off x="253600" y="865650"/>
            <a:ext cx="5144400" cy="3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Gestión de intercambio</a:t>
            </a: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 y pautas Bravos León, Pericos de Puebla y El Horizonte.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Acompañamiento  Apertura SW San Pedro.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Monitoreo de medios y atención </a:t>
            </a: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crisis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Usuaria Triángulo de las</a:t>
            </a: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Ánimas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Clausura Triángulo de las Ánimas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Elaboración plan mensual febrero.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Presentación con tácticas.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Mapeo de influencers.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Calendarización.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164326" y="226750"/>
            <a:ext cx="4581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Actividades realizadas </a:t>
            </a:r>
            <a:r>
              <a:rPr b="1" lang="e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durante el mes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8" name="Google Shape;23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0800" y="4753125"/>
            <a:ext cx="1031475" cy="255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5231E"/>
            </a:gs>
            <a:gs pos="100000">
              <a:srgbClr val="7D0A06"/>
            </a:gs>
          </a:gsLst>
          <a:lin ang="0" scaled="0"/>
        </a:gra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/>
        </p:nvSpPr>
        <p:spPr>
          <a:xfrm>
            <a:off x="2020888" y="2311400"/>
            <a:ext cx="17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GRACIAS </a:t>
            </a:r>
            <a:endParaRPr sz="700"/>
          </a:p>
        </p:txBody>
      </p:sp>
      <p:pic>
        <p:nvPicPr>
          <p:cNvPr id="244" name="Google Shape;24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706" y="4710554"/>
            <a:ext cx="1437950" cy="335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6300" y="4788475"/>
            <a:ext cx="1072600" cy="25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4800" y="1460163"/>
            <a:ext cx="3761500" cy="211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